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Calidad del Software &amp; Ecosistema de IA</a:t>
            </a:r>
          </a:p>
          <a:p>
            <a:pPr>
              <a:spcBef>
                <a:spcPts val="1200"/>
              </a:spcBef>
              <a:defRPr sz="1800">
                <a:solidFill>
                  <a:srgbClr val="F59E0B"/>
                </a:solidFill>
                <a:latin typeface="Arial"/>
              </a:defRPr>
            </a:pPr>
            <a:r>
              <a:t>Enfoque Práctico para el Desarrollo de Software (ADSO - SENA)</a:t>
            </a:r>
          </a:p>
          <a:p>
            <a:pPr>
              <a:spcBef>
                <a:spcPts val="2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• Expositores: Yedinson Ortiz Pino, William Oswaldo Luna, Alejandro Euscategui</a:t>
            </a:r>
            <a:br/>
            <a:r>
              <a:t>• Ficha: 3223899 | Centro de Comercio y Servicios</a:t>
            </a:r>
            <a:br/>
            <a:r>
              <a:t>• Fecha: 19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Calidad vs. Funcionalidad Básica</a:t>
            </a:r>
          </a:p>
          <a:p>
            <a:pPr>
              <a:spcBef>
                <a:spcPts val="200"/>
              </a:spcBef>
              <a:defRPr sz="1300">
                <a:solidFill>
                  <a:srgbClr val="F59E0B"/>
                </a:solidFill>
                <a:latin typeface="Arial"/>
              </a:defRPr>
            </a:pPr>
            <a:r>
              <a:t>¿Por qué un software funcional no siempre es un software de calidad?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800" b="1">
                <a:solidFill>
                  <a:srgbClr val="1E1B4B"/>
                </a:solidFill>
                <a:latin typeface="Arial"/>
              </a:defRPr>
            </a:pPr>
            <a:r>
              <a:t>1. Funcionalidad</a:t>
            </a:r>
          </a:p>
          <a:p>
            <a:pPr>
              <a:spcBef>
                <a:spcPts val="16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El programa cumple con las tareas principales solicitadas, ejecuta código y da resultados aparentes.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800" b="1">
                <a:solidFill>
                  <a:srgbClr val="1E1B4B"/>
                </a:solidFill>
                <a:latin typeface="Arial"/>
              </a:defRPr>
            </a:pPr>
            <a:r>
              <a:t>2. Riesgos Ocultos</a:t>
            </a:r>
          </a:p>
          <a:p>
            <a:pPr>
              <a:spcBef>
                <a:spcPts val="16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Vulnerabilidades de seguridad, fugas de memoria (Memory Leaks), deuda técnica y código espagueti.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800" b="1">
                <a:solidFill>
                  <a:srgbClr val="1E1B4B"/>
                </a:solidFill>
                <a:latin typeface="Arial"/>
              </a:defRPr>
            </a:pPr>
            <a:r>
              <a:t>3. Calidad Real</a:t>
            </a:r>
          </a:p>
          <a:p>
            <a:pPr>
              <a:spcBef>
                <a:spcPts val="16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Mantenible en el tiempo, seguro ante ataques, eficiente en recursos y altamente usable para el usuario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Ecosistema de Asistentes de IA</a:t>
            </a:r>
          </a:p>
          <a:p>
            <a:pPr>
              <a:spcBef>
                <a:spcPts val="200"/>
              </a:spcBef>
              <a:defRPr sz="1300">
                <a:solidFill>
                  <a:srgbClr val="F59E0B"/>
                </a:solidFill>
                <a:latin typeface="Arial"/>
              </a:defRPr>
            </a:pPr>
            <a:r>
              <a:t>Clasificación de herramientas según su integración en el desarrollo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sz="1600" b="1">
                <a:solidFill>
                  <a:srgbClr val="1E1B4B"/>
                </a:solidFill>
                <a:latin typeface="Arial"/>
              </a:defRPr>
            </a:pPr>
            <a:r>
              <a:t>Integradas en el IDE — </a:t>
            </a:r>
            <a:r>
              <a:rPr b="1">
                <a:solidFill>
                  <a:srgbClr val="F59E0B"/>
                </a:solidFill>
              </a:rPr>
              <a:t>GitHub Copilot &amp; Cursor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Asistencia en tiempo real, autocompletado y refactorización directa en el editor de código.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sz="1600" b="1">
                <a:solidFill>
                  <a:srgbClr val="1E1B4B"/>
                </a:solidFill>
                <a:latin typeface="Arial"/>
              </a:defRPr>
            </a:pPr>
            <a:r>
              <a:t>Asistentes Conversacionales — </a:t>
            </a:r>
            <a:r>
              <a:rPr b="1">
                <a:solidFill>
                  <a:srgbClr val="F59E0B"/>
                </a:solidFill>
              </a:rPr>
              <a:t>ChatGPT, Claude &amp; Gemini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Ideales para explicar conceptos, resolver dudas de arquitectura y redactar scripts generales.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sz="1600" b="1">
                <a:solidFill>
                  <a:srgbClr val="1E1B4B"/>
                </a:solidFill>
                <a:latin typeface="Arial"/>
              </a:defRPr>
            </a:pPr>
            <a:r>
              <a:t>Especializadas y de Nicho — </a:t>
            </a:r>
            <a:r>
              <a:rPr b="1">
                <a:solidFill>
                  <a:srgbClr val="F59E0B"/>
                </a:solidFill>
              </a:rPr>
              <a:t>Astral, Grok, OpenCode &amp; Stitch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Optimización de sintaxis específica, análisis de rendimiento y prototipado rápido de interfaces web.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Conclusión: Elección Estratégica para ADSO</a:t>
            </a:r>
          </a:p>
          <a:p>
            <a:pPr>
              <a:spcBef>
                <a:spcPts val="200"/>
              </a:spcBef>
              <a:defRPr sz="1300">
                <a:solidFill>
                  <a:srgbClr val="F59E0B"/>
                </a:solidFill>
                <a:latin typeface="Arial"/>
              </a:defRPr>
            </a:pPr>
            <a:r>
              <a:t>Por qué GitHub Copilot destaca para estudiantes de programación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 bIns="457200"/>
          <a:lstStyle/>
          <a:p>
            <a:pPr algn="ctr">
              <a:defRPr sz="2000" b="1">
                <a:solidFill>
                  <a:srgbClr val="1E1B4B"/>
                </a:solidFill>
                <a:latin typeface="Arial"/>
              </a:defRPr>
            </a:pPr>
            <a:r>
              <a:t>Recomendación Principal: GitHub Copilot</a:t>
            </a:r>
          </a:p>
          <a:p>
            <a:pPr>
              <a:spcBef>
                <a:spcPts val="10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Flujo de trabajo optimizado: Funciona nativamente como extensión en VS Code, evitando cambios de contexto constantes.</a:t>
            </a:r>
          </a:p>
          <a:p>
            <a:pPr>
              <a:spcBef>
                <a:spcPts val="10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Accesibilidad económica: Totalmente gratuito para estudiantes mediante el paquete oficial de GitHub.</a:t>
            </a:r>
          </a:p>
          <a:p>
            <a:pPr>
              <a:spcBef>
                <a:spcPts val="10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Cobertura tecnológica: Excelente rendimiento en lenguajes y frameworks estudiados en el SENA (PHP, Laravel, JS, HTML, CSS, SQL).</a:t>
            </a:r>
          </a:p>
          <a:p>
            <a:pPr>
              <a:spcBef>
                <a:spcPts val="10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Impulso a la calidad y pruebas: Agiliza la generación de comentarios, documentación y pruebas unitarias.</a:t>
            </a:r>
          </a:p>
          <a:p>
            <a:pPr>
              <a:spcBef>
                <a:spcPts val="10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Aprendizaje activo: Obliga al aprendiz a analizar, probar y validar la lógica sugerida antes de integrarla al 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